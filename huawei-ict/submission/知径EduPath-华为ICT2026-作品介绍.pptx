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mo-home.png"/>
          <p:cNvPicPr>
            <a:picLocks noChangeAspect="1"/>
          </p:cNvPicPr>
          <p:nvPr/>
        </p:nvPicPr>
        <p:blipFill>
          <a:blip r:embed="rId2"/>
          <a:srcRect l="16609" r="16609"/>
          <a:stretch>
            <a:fillRect/>
          </a:stretch>
        </p:blipFill>
        <p:spPr>
          <a:xfrm>
            <a:off x="6537960" y="502920"/>
            <a:ext cx="5257800" cy="58064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502920"/>
            <a:ext cx="5257800" cy="5806440"/>
          </a:xfrm>
          <a:prstGeom prst="rect">
            <a:avLst/>
          </a:prstGeom>
          <a:noFill/>
          <a:ln w="12700">
            <a:solidFill>
              <a:srgbClr val="3A4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68580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749808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DF9"/>
                </a:solidFill>
                <a:latin typeface="微软雅黑"/>
                <a:ea typeface="微软雅黑"/>
              </a:rPr>
              <a:t>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7132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9C9C2"/>
                </a:solidFill>
                <a:latin typeface="微软雅黑"/>
                <a:ea typeface="微软雅黑"/>
              </a:rPr>
              <a:t>第十一届华为 ICT 大赛 · 中国创新赛 · 赛题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DF9"/>
                </a:solidFill>
                <a:latin typeface="微软雅黑"/>
                <a:ea typeface="微软雅黑"/>
              </a:rPr>
              <a:t>知径 EduPath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5303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F0EADF"/>
                </a:solidFill>
                <a:latin typeface="微软雅黑"/>
                <a:ea typeface="微软雅黑"/>
              </a:rPr>
              <a:t>基于华为云 AgentArts 的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F0EADF"/>
                </a:solidFill>
                <a:latin typeface="微软雅黑"/>
                <a:ea typeface="微软雅黑"/>
              </a:rPr>
              <a:t>课程学习多智能体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3703320"/>
            <a:ext cx="457200" cy="32004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FC9C1"/>
                </a:solidFill>
                <a:latin typeface="微软雅黑"/>
                <a:ea typeface="微软雅黑"/>
              </a:rPr>
              <a:t>让每一个薄弱点，都有证据、有路径、有反馈。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3949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2AD"/>
                </a:solidFill>
                <a:latin typeface="微软雅黑"/>
                <a:ea typeface="微软雅黑"/>
              </a:rPr>
              <a:t>作品介绍 · 初赛版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2AD"/>
                </a:solidFill>
                <a:latin typeface="微软雅黑"/>
                <a:ea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01 / 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不是缺资料，是缺“按我薄弱点组织、且有依据”的资料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529584" cy="352044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529584" cy="7315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学生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5360"/>
                </a:solidFill>
                <a:latin typeface="微软雅黑"/>
                <a:ea typeface="微软雅黑"/>
              </a:rPr>
              <a:t>“我知道没学好，但不知道弱在哪、下一步学什么。”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401568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3284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通用 AI 给泛化内容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877056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8039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练完没有反馈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352544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2793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路径一次推荐就不再变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7408" y="1783080"/>
            <a:ext cx="3529584" cy="352044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7408" y="1783080"/>
            <a:ext cx="3529584" cy="7315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201168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教师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395728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5360"/>
                </a:solidFill>
                <a:latin typeface="微软雅黑"/>
                <a:ea typeface="微软雅黑"/>
              </a:rPr>
              <a:t>“一个班几十人，我只能按平均进度讲。”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81728" y="3401568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3284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重复备课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81728" y="3877056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8039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难以按薄弱点分层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81728" y="4352544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0" y="42793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缺少可解释的学情依据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783080"/>
            <a:ext cx="3529584" cy="352044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783080"/>
            <a:ext cx="3529584" cy="73152"/>
          </a:xfrm>
          <a:prstGeom prst="rect">
            <a:avLst/>
          </a:prstGeom>
          <a:solidFill>
            <a:srgbClr val="A86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201168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通用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7" y="2395728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5360"/>
                </a:solidFill>
                <a:latin typeface="微软雅黑"/>
                <a:ea typeface="微软雅黑"/>
              </a:rPr>
              <a:t>“内容很多，但我不敢信。”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49056" y="3401568"/>
            <a:ext cx="73152" cy="73152"/>
          </a:xfrm>
          <a:prstGeom prst="roundRect">
            <a:avLst>
              <a:gd name="adj" fmla="val 8000"/>
            </a:avLst>
          </a:prstGeom>
          <a:solidFill>
            <a:srgbClr val="A86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13648" y="33284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脱离教材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49056" y="3877056"/>
            <a:ext cx="73152" cy="73152"/>
          </a:xfrm>
          <a:prstGeom prst="roundRect">
            <a:avLst>
              <a:gd name="adj" fmla="val 8000"/>
            </a:avLst>
          </a:prstGeom>
          <a:solidFill>
            <a:srgbClr val="A86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13648" y="38039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无法核验来源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49056" y="4352544"/>
            <a:ext cx="73152" cy="73152"/>
          </a:xfrm>
          <a:prstGeom prst="roundRect">
            <a:avLst>
              <a:gd name="adj" fmla="val 8000"/>
            </a:avLst>
          </a:prstGeom>
          <a:solidFill>
            <a:srgbClr val="A86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13648" y="42793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可能直接给答案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70585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8F1224"/>
                </a:solidFill>
                <a:latin typeface="微软雅黑"/>
                <a:ea typeface="微软雅黑"/>
              </a:rPr>
              <a:t>结果：统一进度  ×  个体差异  ×  内容不可核验  →  需要一条“有证据、会调整”的学习闭环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02 /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一条可执行的学习闭环，而不是一次性推荐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766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画像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目标 / 薄弱点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偏好 / 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2395728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87168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3472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5C8A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课程 chunk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来源 / 许可证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395728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FB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6412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规划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资源类型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难度 / 顺序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395728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8102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生成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讲义 / 导图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题库 / 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95728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1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766E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门禁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质量五维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安全四类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2395728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75519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21824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5C8A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1824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路径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1824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3 天任务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测验后重规划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3611880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7673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8792"/>
                </a:solidFill>
                <a:latin typeface="微软雅黑"/>
                <a:ea typeface="微软雅黑"/>
              </a:rPr>
              <a:t>输入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0416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5212C"/>
                </a:solidFill>
                <a:latin typeface="微软雅黑"/>
                <a:ea typeface="微软雅黑"/>
              </a:rPr>
              <a:t>一句话 + 一门课 + 一份画像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4480560"/>
            <a:ext cx="4754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5360"/>
                </a:solidFill>
                <a:latin typeface="微软雅黑"/>
                <a:ea typeface="微软雅黑"/>
              </a:rPr>
              <a:t>例：我递归总是绕晕，想要二叉树遍历的图解讲义，最好带 3 道题。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55080" y="3611880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37673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8792"/>
                </a:solidFill>
                <a:latin typeface="微软雅黑"/>
                <a:ea typeface="微软雅黑"/>
              </a:rPr>
              <a:t>输出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0416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5212C"/>
                </a:solidFill>
                <a:latin typeface="微软雅黑"/>
                <a:ea typeface="微软雅黑"/>
              </a:rPr>
              <a:t>4 类资产 + 可追溯证据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480560"/>
            <a:ext cx="4754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5360"/>
                </a:solidFill>
                <a:latin typeface="微软雅黑"/>
                <a:ea typeface="微软雅黑"/>
              </a:rPr>
              <a:t>讲义 / 知识图谱 / 查漏练习 / 学习路径；每条结论带 [E#]，可点回来源。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8F1224"/>
                </a:solidFill>
                <a:latin typeface="微软雅黑"/>
                <a:ea typeface="微软雅黑"/>
              </a:rPr>
              <a:t>闭环关键：测验结果回流画像与路径，而不是“推荐完就结束”。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03 / 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为什么把编排放到华为云 AgentArts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349240" cy="804672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73152" cy="80467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212C"/>
                </a:solidFill>
                <a:latin typeface="微软雅黑"/>
                <a:ea typeface="微软雅黑"/>
              </a:rPr>
              <a:t>智能体 + 工作流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56231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主控 + 7 角色、12 节点；并行、条件、版本。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80"/>
            <a:ext cx="5349240" cy="804672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97480"/>
            <a:ext cx="73152" cy="804672"/>
          </a:xfrm>
          <a:prstGeom prst="rect">
            <a:avLst/>
          </a:prstGeom>
          <a:solidFill>
            <a:srgbClr val="24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072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212C"/>
                </a:solidFill>
                <a:latin typeface="微软雅黑"/>
                <a:ea typeface="微软雅黑"/>
              </a:rPr>
              <a:t>平台知识库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16352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pangu_embedding + pangu_rerank；引用与命中测试开箱即用。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57600"/>
            <a:ext cx="5349240" cy="804672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57600"/>
            <a:ext cx="73152" cy="804672"/>
          </a:xfrm>
          <a:prstGeom prst="rect">
            <a:avLst/>
          </a:prstGeom>
          <a:solidFill>
            <a:srgbClr val="A86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67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212C"/>
                </a:solidFill>
                <a:latin typeface="微软雅黑"/>
                <a:ea typeface="微软雅黑"/>
              </a:rPr>
              <a:t>MCP 工具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776472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工具自描述、自动发现；既有能力低侵入复用。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5349240" cy="804672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274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212C"/>
                </a:solidFill>
                <a:latin typeface="微软雅黑"/>
                <a:ea typeface="微软雅黑"/>
              </a:rPr>
              <a:t>发布 +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736592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API/Web 发布；评测集、运行记录、调用日志。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737360"/>
            <a:ext cx="5257800" cy="384048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801368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DF9"/>
                </a:solidFill>
                <a:latin typeface="微软雅黑"/>
                <a:ea typeface="微软雅黑"/>
              </a:rPr>
              <a:t>维度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1801368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DF9"/>
                </a:solidFill>
                <a:latin typeface="微软雅黑"/>
                <a:ea typeface="微软雅黑"/>
              </a:rPr>
              <a:t>自写编排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18013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DF9"/>
                </a:solidFill>
                <a:latin typeface="微软雅黑"/>
                <a:ea typeface="微软雅黑"/>
              </a:rPr>
              <a:t>AgentArts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157984"/>
            <a:ext cx="5257800" cy="621792"/>
          </a:xfrm>
          <a:prstGeom prst="rect">
            <a:avLst/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智能体/工作流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23042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代码即配置，改一次发版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2267712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画布配置，改完即试运行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2852928"/>
            <a:ext cx="5257800" cy="621792"/>
          </a:xfrm>
          <a:prstGeom prst="rect">
            <a:avLst/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0266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知识库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299923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自建 Chroma/分段/引用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2962656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平台知识库 + 命中测试 + 引用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547872"/>
            <a:ext cx="5257800" cy="621792"/>
          </a:xfrm>
          <a:prstGeom prst="rect">
            <a:avLst/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37216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工具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26679" y="3694176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内部 HTTP，平台看不见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657600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MCP 自动发现，调用可追踪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242816"/>
            <a:ext cx="5257800" cy="621792"/>
          </a:xfrm>
          <a:prstGeom prst="rect">
            <a:avLst/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44165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发布/评测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6679" y="438912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自己写 API/鉴权/脚本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5480" y="4352544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平台发布 + 评测集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5074920"/>
            <a:ext cx="5257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F1224"/>
                </a:solidFill>
                <a:latin typeface="微软雅黑"/>
                <a:ea typeface="微软雅黑"/>
              </a:rPr>
              <a:t>旁路适配：原项目 0 行修改，既有 RAG/生成/评估通过 MCP 复用。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9360" y="5577840"/>
            <a:ext cx="5257800" cy="45720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5687568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F1224"/>
                </a:solidFill>
                <a:latin typeface="微软雅黑"/>
                <a:ea typeface="微软雅黑"/>
              </a:rPr>
              <a:t>平台负责编排/知识/发布/评测；领域能力仍归 EduPath。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04 / 编制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8 个角色，各自对一件事负责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64008" cy="17373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88366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知径学伴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9456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主控 / 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48716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意图识别、路由、汇总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1089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DeepSeek-V4-Flash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173736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93008" y="1737360"/>
            <a:ext cx="64008" cy="17373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188366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画像师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219456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48716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目标、薄弱点、偏好、节奏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31089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73736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5936" y="1737360"/>
            <a:ext cx="64008" cy="17373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188366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检索员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219456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Retriever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248716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课程证据、阈值、拒答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31089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pangu_embedding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3" y="173736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98863" y="1737360"/>
            <a:ext cx="64008" cy="17373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00032" y="188366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教学设计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00032" y="219456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Planner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248716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资源组合、难度、时长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31089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70332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3703320"/>
            <a:ext cx="64008" cy="1737360"/>
          </a:xfrm>
          <a:prstGeom prst="rect">
            <a:avLst/>
          </a:prstGeom>
          <a:solidFill>
            <a:srgbClr val="24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" y="384962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内容生成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" y="445312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讲义 / 导图 / 题库 / 代码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" y="507492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93008" y="370332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3008" y="3703320"/>
            <a:ext cx="64008" cy="1737360"/>
          </a:xfrm>
          <a:prstGeom prst="rect">
            <a:avLst/>
          </a:prstGeom>
          <a:solidFill>
            <a:srgbClr val="24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94176" y="384962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辅导教练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94176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Tutor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94176" y="445312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苏格拉底 / 分步 / 提示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94176" y="507492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45936" y="370332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45936" y="3703320"/>
            <a:ext cx="64008" cy="1737360"/>
          </a:xfrm>
          <a:prstGeom prst="rect">
            <a:avLst/>
          </a:prstGeom>
          <a:solidFill>
            <a:srgbClr val="24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384962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评估师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7104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Evaluator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47104" y="445312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五维质量、测验分析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47104" y="507492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98863" y="370332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98863" y="3703320"/>
            <a:ext cx="64008" cy="1737360"/>
          </a:xfrm>
          <a:prstGeom prst="rect">
            <a:avLst/>
          </a:prstGeom>
          <a:solidFill>
            <a:srgbClr val="24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00032" y="384962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安全员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00032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Safety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00032" y="445312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诚信 / 隐私 / 事实 / 价值观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00032" y="507492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74243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F1224"/>
                </a:solidFill>
                <a:latin typeface="微软雅黑"/>
                <a:ea typeface="微软雅黑"/>
              </a:rPr>
              <a:t>不是为 multi-agent 而 multi-agent：职责与失败边界不同，才能独立重试、独立评测、独立换模型。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05 /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12 节点工作流：并行、门禁、可回退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883664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7451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212C"/>
                </a:solidFill>
                <a:latin typeface="微软雅黑"/>
                <a:ea typeface="微软雅黑"/>
              </a:rPr>
              <a:t>开始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17627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消息 / 课程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2887" y="2057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783080"/>
            <a:ext cx="1883664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0944" y="187451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212C"/>
                </a:solidFill>
                <a:latin typeface="微软雅黑"/>
                <a:ea typeface="微软雅黑"/>
              </a:rPr>
              <a:t>意图识别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217627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主控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5736" y="2057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65776" y="1783080"/>
            <a:ext cx="1883664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187451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212C"/>
                </a:solidFill>
                <a:latin typeface="微软雅黑"/>
                <a:ea typeface="微软雅黑"/>
              </a:rPr>
              <a:t>课程确认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217627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校验 / 回退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8583" y="2057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78624" y="1783080"/>
            <a:ext cx="1883664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87451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212C"/>
                </a:solidFill>
                <a:latin typeface="微软雅黑"/>
                <a:ea typeface="微软雅黑"/>
              </a:rPr>
              <a:t>画像 + 检索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17627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并行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057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1783080"/>
            <a:ext cx="1883664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9488" y="187451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212C"/>
                </a:solidFill>
                <a:latin typeface="微软雅黑"/>
                <a:ea typeface="微软雅黑"/>
              </a:rPr>
              <a:t>资源规划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217627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类型 / 难度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063240"/>
            <a:ext cx="1234440" cy="54864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 w="12700">
            <a:solidFill>
              <a:srgbClr val="F0D4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182112"/>
            <a:ext cx="1234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F1224"/>
                </a:solidFill>
                <a:latin typeface="微软雅黑"/>
                <a:ea typeface="微软雅黑"/>
              </a:rPr>
              <a:t>生成讲义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57400" y="3063240"/>
            <a:ext cx="1234440" cy="54864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 w="12700">
            <a:solidFill>
              <a:srgbClr val="F0D4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57400" y="3182112"/>
            <a:ext cx="1234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F1224"/>
                </a:solidFill>
                <a:latin typeface="微软雅黑"/>
                <a:ea typeface="微软雅黑"/>
              </a:rPr>
              <a:t>生成导图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3063240"/>
            <a:ext cx="1234440" cy="54864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 w="12700">
            <a:solidFill>
              <a:srgbClr val="F0D4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3182112"/>
            <a:ext cx="1234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F1224"/>
                </a:solidFill>
                <a:latin typeface="微软雅黑"/>
                <a:ea typeface="微软雅黑"/>
              </a:rPr>
              <a:t>生成题库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1272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8792"/>
                </a:solidFill>
                <a:latin typeface="微软雅黑"/>
                <a:ea typeface="微软雅黑"/>
              </a:rPr>
              <a:t>三路并行生成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3017520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FB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1363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6412"/>
                </a:solidFill>
                <a:latin typeface="微软雅黑"/>
                <a:ea typeface="微软雅黑"/>
              </a:rPr>
              <a:t>质量门禁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31546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3017520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60" y="31363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766E"/>
                </a:solidFill>
                <a:latin typeface="微软雅黑"/>
                <a:ea typeface="微软雅黑"/>
              </a:rPr>
              <a:t>安全审核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31546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49840" y="3017520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0" y="31363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212C"/>
                </a:solidFill>
                <a:latin typeface="微软雅黑"/>
                <a:ea typeface="微软雅黑"/>
              </a:rPr>
              <a:t>发布 / 落库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3977639"/>
            <a:ext cx="4983480" cy="566928"/>
          </a:xfrm>
          <a:prstGeom prst="roundRect">
            <a:avLst>
              <a:gd name="adj" fmla="val 8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20840" y="409651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5C8A"/>
                </a:solidFill>
                <a:latin typeface="微软雅黑"/>
                <a:ea typeface="微软雅黑"/>
              </a:rPr>
              <a:t>路径规划：3 天 × 30 分钟，按测验结果重规划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45537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质量 / 安全通过后才进入发布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5074920"/>
            <a:ext cx="10927080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1937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测验分支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5175504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5360"/>
                </a:solidFill>
                <a:latin typeface="微软雅黑"/>
                <a:ea typeface="微软雅黑"/>
              </a:rPr>
              <a:t>提交作答 → 评估 Agent（掌握度 / 错因）→ 插入补救或调整难度 → 路径重规划 → 写回画像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108192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8792"/>
                </a:solidFill>
                <a:latin typeface="微软雅黑"/>
                <a:ea typeface="微软雅黑"/>
              </a:rPr>
              <a:t>失败可回退：检索 0 命中拒答；生成失败重试 1 次；质量不通过返回草稿；安全高危直接拦截。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06 / 知识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知识接入：每条结论都能回到课程 chunk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5212C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门课程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737360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5212C"/>
                </a:solidFill>
                <a:latin typeface="微软雅黑"/>
                <a:ea typeface="微软雅黑"/>
              </a:rPr>
              <a:t>108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226771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篇公开语料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737360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5212C"/>
                </a:solidFill>
                <a:latin typeface="微软雅黑"/>
                <a:ea typeface="微软雅黑"/>
              </a:rPr>
              <a:t>1,200+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26771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语义切片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97480"/>
            <a:ext cx="2286000" cy="42062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78892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7063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授权原文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08960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8D2C7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64408"/>
            <a:ext cx="2286000" cy="42062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355848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337560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清洗 / 分段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75888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8D2C7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31336"/>
            <a:ext cx="2286000" cy="42062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922776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904488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元数据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24281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8D2C7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398264"/>
            <a:ext cx="2286000" cy="42062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489704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471416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平台知识库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分段：标题层级 3 / 约 500 字 / 重叠 50–80 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40680"/>
            <a:ext cx="4526280" cy="658368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55955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微软雅黑"/>
                <a:ea typeface="微软雅黑"/>
              </a:rPr>
              <a:t>负例：红黑树删除 → 0 命中 → 拒答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5815584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C807A"/>
                </a:solidFill>
                <a:latin typeface="微软雅黑"/>
                <a:ea typeface="微软雅黑"/>
              </a:rPr>
              <a:t>该拒答时拒答，比多答一题更能证明“证据约束”。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1691640"/>
            <a:ext cx="6126480" cy="45262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23560" y="182880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讲义片段 · 带引用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2084831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递归三要素（节选）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2560320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1. 终止条件：节点为空时返回，空节点是递归出口，不是异常 [E2]。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60" y="2871215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2. 本层动作：把当前节点的值加入结果列表。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23560" y="3182112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3. 下一层：分别递归左、右子树；递归深度等于树高 [E3]。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23560" y="356616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17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79008" y="3685032"/>
            <a:ext cx="54406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E6EEF2"/>
                </a:solidFill>
                <a:latin typeface="Consolas"/>
                <a:ea typeface="Consolas"/>
              </a:rPr>
              <a:t>def inorder(root):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E6EEF2"/>
                </a:solidFill>
                <a:latin typeface="Consolas"/>
                <a:ea typeface="Consolas"/>
              </a:rPr>
              <a:t>    if root is None:          # 1. 出口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E6EEF2"/>
                </a:solidFill>
                <a:latin typeface="Consolas"/>
                <a:ea typeface="Consolas"/>
              </a:rPr>
              <a:t>        return []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E6EEF2"/>
                </a:solidFill>
                <a:latin typeface="Consolas"/>
                <a:ea typeface="Consolas"/>
              </a:rPr>
              <a:t>    return inorder(root.left) + [root.val] + inorder(root.right)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479145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证据侧栏（可点回 chunk）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047488"/>
            <a:ext cx="310896" cy="201168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60" y="5074920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DF9"/>
                </a:solidFill>
                <a:latin typeface="微软雅黑"/>
                <a:ea typeface="微软雅黑"/>
              </a:rPr>
              <a:t>E1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16752" y="5038344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15212C"/>
                </a:solidFill>
                <a:latin typeface="微软雅黑"/>
                <a:ea typeface="微软雅黑"/>
              </a:rPr>
              <a:t>前序、中序、后序与层序遍历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5038344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766E"/>
                </a:solidFill>
                <a:latin typeface="微软雅黑"/>
                <a:ea typeface="微软雅黑"/>
              </a:rPr>
              <a:t>0.94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503834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8B0B8"/>
                </a:solidFill>
                <a:latin typeface="微软雅黑"/>
                <a:ea typeface="微软雅黑"/>
              </a:rPr>
              <a:t>OpenDSA / MIT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23560" y="5376672"/>
            <a:ext cx="310896" cy="201168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5404104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DF9"/>
                </a:solidFill>
                <a:latin typeface="微软雅黑"/>
                <a:ea typeface="微软雅黑"/>
              </a:rPr>
              <a:t>E2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5367528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15212C"/>
                </a:solidFill>
                <a:latin typeface="微软雅黑"/>
                <a:ea typeface="微软雅黑"/>
              </a:rPr>
              <a:t>二叉树术语、性质与结构分类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53675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766E"/>
                </a:solidFill>
                <a:latin typeface="微软雅黑"/>
                <a:ea typeface="微软雅黑"/>
              </a:rPr>
              <a:t>0.94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536752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8B0B8"/>
                </a:solidFill>
                <a:latin typeface="微软雅黑"/>
                <a:ea typeface="微软雅黑"/>
              </a:rPr>
              <a:t>OpenDSA / MIT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23560" y="5705855"/>
            <a:ext cx="310896" cy="201168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60" y="5733288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DF9"/>
                </a:solidFill>
                <a:latin typeface="微软雅黑"/>
                <a:ea typeface="微软雅黑"/>
              </a:rPr>
              <a:t>E3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16752" y="5696712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15212C"/>
                </a:solidFill>
                <a:latin typeface="微软雅黑"/>
                <a:ea typeface="微软雅黑"/>
              </a:rPr>
              <a:t>DFS：时间戳、边分类与递归栈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5696712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766E"/>
                </a:solidFill>
                <a:latin typeface="微软雅黑"/>
                <a:ea typeface="微软雅黑"/>
              </a:rPr>
              <a:t>0.90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20" y="569671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8B0B8"/>
                </a:solidFill>
                <a:latin typeface="微软雅黑"/>
                <a:ea typeface="微软雅黑"/>
              </a:rPr>
              <a:t>cp-algorithms / CC BY-SA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3560" y="5943600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C8792"/>
                </a:solidFill>
                <a:latin typeface="微软雅黑"/>
                <a:ea typeface="微软雅黑"/>
              </a:rPr>
              <a:t>每条结论都能点回 chunk；弱证据拒答，而不是让模型补常识。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07 / 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10 个 MCP 工具，把既有能力变成可编排动作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024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89280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画像读取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1214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1755648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1528" y="192024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89280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课程检索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1214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505456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670048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642615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资源规划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2871215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1800" y="2505456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1528" y="2670048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2642615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资源生成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7288" y="2871215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255263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419856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3392423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路径规划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3621023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71800" y="3255263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81528" y="3419856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288" y="3392423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证据辅导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7288" y="3621023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005072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69663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41422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出题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" y="437083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71800" y="4005072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81528" y="4169663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47288" y="41422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测验分析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47288" y="437083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754879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919471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" y="48920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安全审核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" y="51206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971800" y="4754879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81528" y="4919471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47288" y="48920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课程大纲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47288" y="51206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15000" y="1737360"/>
            <a:ext cx="5852160" cy="2423160"/>
          </a:xfrm>
          <a:prstGeom prst="roundRect">
            <a:avLst>
              <a:gd name="adj" fmla="val 8000"/>
            </a:avLst>
          </a:prstGeom>
          <a:solidFill>
            <a:srgbClr val="17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97880" y="1874519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FC7C0"/>
                </a:solidFill>
                <a:latin typeface="微软雅黑"/>
                <a:ea typeface="微软雅黑"/>
              </a:rPr>
              <a:t>tools/call  ·  JSON-RPC 2.0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2176272"/>
            <a:ext cx="53949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"jsonrpc": "2.0", "id": 3,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"method": "tools/call",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"params": {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  "name": "edupath_search_knowledge",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  "arguments": {"query": "二叉树 中序",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                "course_id": 1, "top_k": 4}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}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5000" y="425196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C8792"/>
                </a:solidFill>
                <a:latin typeface="微软雅黑"/>
                <a:ea typeface="微软雅黑"/>
              </a:rPr>
              <a:t>stdio  ·  HTTP JSON-RPC  ·  HTTP + SSE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15000" y="466344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7880" y="4800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F1224"/>
                </a:solidFill>
                <a:latin typeface="微软雅黑"/>
                <a:ea typeface="微软雅黑"/>
              </a:rPr>
              <a:t>工具发现 → 参数绑定 → 调用日志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97880" y="5138928"/>
            <a:ext cx="5394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3A4A"/>
                </a:solidFill>
                <a:latin typeface="微软雅黑"/>
                <a:ea typeface="微软雅黑"/>
              </a:rPr>
              <a:t>评委能看到 Agent 真的调了工具，而不是“写了一段像工具调用的话”。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000" y="548640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F1224"/>
                </a:solidFill>
                <a:latin typeface="微软雅黑"/>
                <a:ea typeface="微软雅黑"/>
              </a:rPr>
              <a:t>原项目 0 行修改：MCP 把既有 HTTP 能力注册为工具，平台负责编排。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08 /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一个学生、一门课、一次完整学习任务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mo-home.png"/>
          <p:cNvPicPr>
            <a:picLocks noChangeAspect="1"/>
          </p:cNvPicPr>
          <p:nvPr/>
        </p:nvPicPr>
        <p:blipFill>
          <a:blip r:embed="rId2"/>
          <a:srcRect t="5212" b="5212"/>
          <a:stretch>
            <a:fillRect/>
          </a:stretch>
        </p:blipFill>
        <p:spPr>
          <a:xfrm>
            <a:off x="640080" y="1691640"/>
            <a:ext cx="3529584" cy="2331720"/>
          </a:xfrm>
          <a:prstGeom prst="rect">
            <a:avLst/>
          </a:prstGeom>
          <a:ln w="12700">
            <a:solidFill>
              <a:srgbClr val="E2DBCF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4133087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212C"/>
                </a:solidFill>
                <a:latin typeface="微软雅黑"/>
                <a:ea typeface="微软雅黑"/>
              </a:rPr>
              <a:t>01  画像与任务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一句话输入，进入工作流</a:t>
            </a:r>
          </a:p>
        </p:txBody>
      </p:sp>
      <p:pic>
        <p:nvPicPr>
          <p:cNvPr id="9" name="Picture 8" descr="demo-quiz.png"/>
          <p:cNvPicPr>
            <a:picLocks noChangeAspect="1"/>
          </p:cNvPicPr>
          <p:nvPr/>
        </p:nvPicPr>
        <p:blipFill>
          <a:blip r:embed="rId3"/>
          <a:srcRect t="19112" b="19112"/>
          <a:stretch>
            <a:fillRect/>
          </a:stretch>
        </p:blipFill>
        <p:spPr>
          <a:xfrm>
            <a:off x="4407408" y="1691640"/>
            <a:ext cx="3529584" cy="2331720"/>
          </a:xfrm>
          <a:prstGeom prst="rect">
            <a:avLst/>
          </a:prstGeom>
          <a:ln w="12700">
            <a:solidFill>
              <a:srgbClr val="E2DBC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407408" y="4133087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212C"/>
                </a:solidFill>
                <a:latin typeface="微软雅黑"/>
                <a:ea typeface="微软雅黑"/>
              </a:rPr>
              <a:t>02  练习与评估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4434840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3 题查漏，错因回流路径</a:t>
            </a:r>
          </a:p>
        </p:txBody>
      </p:sp>
      <p:pic>
        <p:nvPicPr>
          <p:cNvPr id="12" name="Picture 11" descr="demo-path.png"/>
          <p:cNvPicPr>
            <a:picLocks noChangeAspect="1"/>
          </p:cNvPicPr>
          <p:nvPr/>
        </p:nvPicPr>
        <p:blipFill>
          <a:blip r:embed="rId4"/>
          <a:srcRect t="17235" b="17235"/>
          <a:stretch>
            <a:fillRect/>
          </a:stretch>
        </p:blipFill>
        <p:spPr>
          <a:xfrm>
            <a:off x="8174736" y="1691640"/>
            <a:ext cx="3529584" cy="2331720"/>
          </a:xfrm>
          <a:prstGeom prst="rect">
            <a:avLst/>
          </a:prstGeom>
          <a:ln w="12700">
            <a:solidFill>
              <a:srgbClr val="E2DBCF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8174736" y="4133087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212C"/>
                </a:solidFill>
                <a:latin typeface="微软雅黑"/>
                <a:ea typeface="微软雅黑"/>
              </a:rPr>
              <a:t>03  三日路径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4434840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按薄弱点排任务与时长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983480"/>
            <a:ext cx="10927080" cy="731520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3892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DF9"/>
                </a:solidFill>
                <a:latin typeface="微软雅黑"/>
                <a:ea typeface="微软雅黑"/>
              </a:rPr>
              <a:t>9 步轨迹   ·   5 条课程证据   ·   3 类资源   ·   88 分质量门禁   ·   4 项安全通过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B0B8"/>
                </a:solidFill>
                <a:latin typeface="微软雅黑"/>
                <a:ea typeface="微软雅黑"/>
              </a:rPr>
              <a:t>截图来自 offline fixture 彩排，页面明确标注“本地演示 · 未上云”；正式提交前替换为 AgentArts 端点截图。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09 / 质量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质量与安全：生成不等于发布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834640" cy="3337560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DF9"/>
                </a:solidFill>
                <a:latin typeface="微软雅黑"/>
                <a:ea typeface="微软雅黑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4231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B0BC"/>
                </a:solidFill>
                <a:latin typeface="微软雅黑"/>
                <a:ea typeface="微软雅黑"/>
              </a:rPr>
              <a:t>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C9C1"/>
                </a:solidFill>
                <a:latin typeface="微软雅黑"/>
                <a:ea typeface="微软雅黑"/>
              </a:rPr>
              <a:t>A 级 · 门禁通过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FD8DE"/>
                </a:solidFill>
                <a:latin typeface="微软雅黑"/>
                <a:ea typeface="微软雅黑"/>
              </a:rPr>
              <a:t>五维加权：课程一致性 30%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FD8DE"/>
                </a:solidFill>
                <a:latin typeface="微软雅黑"/>
                <a:ea typeface="微软雅黑"/>
              </a:rPr>
              <a:t>学情匹配 25% / 结构 20%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FD8DE"/>
                </a:solidFill>
                <a:latin typeface="微软雅黑"/>
                <a:ea typeface="微软雅黑"/>
              </a:rPr>
              <a:t>可练习 15% / 表达 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81051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55360"/>
                </a:solidFill>
                <a:latin typeface="微软雅黑"/>
                <a:ea typeface="微软雅黑"/>
              </a:rPr>
              <a:t>课程一致性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883664"/>
            <a:ext cx="2011680" cy="109728"/>
          </a:xfrm>
          <a:prstGeom prst="roundRect">
            <a:avLst>
              <a:gd name="adj" fmla="val 8000"/>
            </a:avLst>
          </a:prstGeom>
          <a:solidFill>
            <a:srgbClr val="EC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92040" y="1883664"/>
            <a:ext cx="1850745" cy="10972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1810512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237744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55360"/>
                </a:solidFill>
                <a:latin typeface="微软雅黑"/>
                <a:ea typeface="微软雅黑"/>
              </a:rPr>
              <a:t>学情匹配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2040" y="2450592"/>
            <a:ext cx="2011680" cy="109728"/>
          </a:xfrm>
          <a:prstGeom prst="roundRect">
            <a:avLst>
              <a:gd name="adj" fmla="val 8000"/>
            </a:avLst>
          </a:prstGeom>
          <a:solidFill>
            <a:srgbClr val="EC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92040" y="2450592"/>
            <a:ext cx="1810512" cy="10972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23774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944368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55360"/>
                </a:solidFill>
                <a:latin typeface="微软雅黑"/>
                <a:ea typeface="微软雅黑"/>
              </a:rPr>
              <a:t>结构完整性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3017520"/>
            <a:ext cx="2011680" cy="109728"/>
          </a:xfrm>
          <a:prstGeom prst="roundRect">
            <a:avLst>
              <a:gd name="adj" fmla="val 8000"/>
            </a:avLst>
          </a:prstGeom>
          <a:solidFill>
            <a:srgbClr val="EC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92040" y="3017520"/>
            <a:ext cx="1730044" cy="10972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2944368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51129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55360"/>
                </a:solidFill>
                <a:latin typeface="微软雅黑"/>
                <a:ea typeface="微软雅黑"/>
              </a:rPr>
              <a:t>可练习性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92040" y="3584448"/>
            <a:ext cx="2011680" cy="109728"/>
          </a:xfrm>
          <a:prstGeom prst="roundRect">
            <a:avLst>
              <a:gd name="adj" fmla="val 8000"/>
            </a:avLst>
          </a:prstGeom>
          <a:solidFill>
            <a:srgbClr val="EC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92040" y="3584448"/>
            <a:ext cx="1689811" cy="10972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351129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07822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55360"/>
                </a:solidFill>
                <a:latin typeface="微软雅黑"/>
                <a:ea typeface="微软雅黑"/>
              </a:rPr>
              <a:t>表达清晰度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4151376"/>
            <a:ext cx="2011680" cy="109728"/>
          </a:xfrm>
          <a:prstGeom prst="roundRect">
            <a:avLst>
              <a:gd name="adj" fmla="val 8000"/>
            </a:avLst>
          </a:prstGeom>
          <a:solidFill>
            <a:srgbClr val="EC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92040" y="4151376"/>
            <a:ext cx="1730044" cy="10972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407822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86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5240" y="1737360"/>
            <a:ext cx="3931920" cy="33375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187451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212C"/>
                </a:solidFill>
                <a:latin typeface="微软雅黑"/>
                <a:ea typeface="微软雅黑"/>
              </a:rPr>
              <a:t>安全审核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2286000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8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学术诚信：不代写/代考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18120" y="281635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5008" y="27706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隐私：不重复敏感信息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18120" y="3346703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65008" y="330098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事实性：引用必须存在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8120" y="3877055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65008" y="3831335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价值观：拦截高危内容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4434840"/>
            <a:ext cx="3520440" cy="457200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79" y="4535424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微软雅黑"/>
                <a:ea typeface="微软雅黑"/>
              </a:rPr>
              <a:t>高危直接拦截，不进入发布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34924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工程验证 82 / 56 / 29 / 2（AI / Java / 前端 / E2E）——证明工程流程，不宣称提分。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760720"/>
            <a:ext cx="10927080" cy="502920"/>
          </a:xfrm>
          <a:prstGeom prst="roundRect">
            <a:avLst>
              <a:gd name="adj" fmla="val 8000"/>
            </a:avLst>
          </a:prstGeom>
          <a:solidFill>
            <a:srgbClr val="FB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8704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6412"/>
                </a:solidFill>
                <a:latin typeface="微软雅黑"/>
                <a:ea typeface="微软雅黑"/>
              </a:rPr>
              <a:t>发布前校验引用：模型写了 [E1]，E1 必须真的在检索结果里；否则降级草稿。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10 / 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应用价值：按课程复制，而不是按学校重做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529584" cy="1600200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课程包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1284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766E"/>
                </a:solidFill>
                <a:latin typeface="微软雅黑"/>
                <a:ea typeface="微软雅黑"/>
              </a:rPr>
              <a:t>给院系/课程团队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语料 + 知识点 + 工作流 + 评测集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737360"/>
            <a:ext cx="3529584" cy="1600200"/>
          </a:xfrm>
          <a:prstGeom prst="roundRect">
            <a:avLst>
              <a:gd name="adj" fmla="val 8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874519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教师工作台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21284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5C8A"/>
                </a:solidFill>
                <a:latin typeface="微软雅黑"/>
                <a:ea typeface="微软雅黑"/>
              </a:rPr>
              <a:t>给任课教师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5146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分层讲义、练习、班级洞察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4736" y="1737360"/>
            <a:ext cx="3529584" cy="160020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03336" y="1874519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SaaS 订阅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3336" y="221284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8102E"/>
                </a:solidFill>
                <a:latin typeface="微软雅黑"/>
                <a:ea typeface="微软雅黑"/>
              </a:rPr>
              <a:t>给高校/职教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3336" y="25146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按课程/班级计费，持续更新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C8792"/>
                </a:solidFill>
                <a:latin typeface="微软雅黑"/>
                <a:ea typeface="微软雅黑"/>
              </a:rPr>
              <a:t>复制路径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3611880"/>
            <a:ext cx="1737360" cy="502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212C"/>
                </a:solidFill>
                <a:latin typeface="微软雅黑"/>
                <a:ea typeface="微软雅黑"/>
              </a:rPr>
              <a:t>换语料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1246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3611880"/>
            <a:ext cx="1737360" cy="502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3730752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212C"/>
                </a:solidFill>
                <a:latin typeface="微软雅黑"/>
                <a:ea typeface="微软雅黑"/>
              </a:rPr>
              <a:t>标知识点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0448" y="371246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3611880"/>
            <a:ext cx="1737360" cy="502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730752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212C"/>
                </a:solidFill>
                <a:latin typeface="微软雅黑"/>
                <a:ea typeface="微软雅黑"/>
              </a:rPr>
              <a:t>配评测集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7" y="371246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3611880"/>
            <a:ext cx="1737360" cy="502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3730752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212C"/>
                </a:solidFill>
                <a:latin typeface="微软雅黑"/>
                <a:ea typeface="微软雅黑"/>
              </a:rPr>
              <a:t>跑工作流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7200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8102E"/>
                </a:solidFill>
                <a:latin typeface="微软雅黑"/>
                <a:ea typeface="微软雅黑"/>
              </a:rPr>
              <a:t>45 → 15 分钟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292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教师备课（目标，待试点）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7200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5212C"/>
                </a:solidFill>
                <a:latin typeface="微软雅黑"/>
                <a:ea typeface="微软雅黑"/>
              </a:rPr>
              <a:t>≥ 95%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0292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任务成功率（目标）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57200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5212C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50292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证据覆盖 / 引用可追溯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457200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5212C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50292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高危样本拦截（评测集）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F1224"/>
                </a:solidFill>
                <a:latin typeface="微软雅黑"/>
                <a:ea typeface="微软雅黑"/>
              </a:rPr>
              <a:t>不宣称提升学习成绩：没有对照实验；下一步做班级试点，记录完成率与教师备课时间。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DF9"/>
                </a:solidFill>
                <a:latin typeface="微软雅黑"/>
                <a:ea typeface="微软雅黑"/>
              </a:rPr>
              <a:t>知径 EduPath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8FC9C1"/>
                </a:solidFill>
                <a:latin typeface="微软雅黑"/>
                <a:ea typeface="微软雅黑"/>
              </a:rPr>
              <a:t>让学习有据可循。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0195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9C4CC"/>
                </a:solidFill>
                <a:latin typeface="微软雅黑"/>
                <a:ea typeface="微软雅黑"/>
              </a:rPr>
              <a:t>基于华为云 AgentArts 的课程学习多智能体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FC9C1"/>
                </a:solidFill>
                <a:latin typeface="微软雅黑"/>
                <a:ea typeface="微软雅黑"/>
              </a:rPr>
              <a:t>已完成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本地 Demo / MCP / 9 步流水线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112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信息表 / 12 页 PPT / 5 张截图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9534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16 项自检 + 13 项单测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27432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48A"/>
                </a:solidFill>
                <a:latin typeface="微软雅黑"/>
                <a:ea typeface="微软雅黑"/>
              </a:rPr>
              <a:t>待完成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31272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AgentArts 真实端点联调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5112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3.5 分钟实机视频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89534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24 条平台评测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A3AC"/>
                </a:solidFill>
                <a:latin typeface="微软雅黑"/>
                <a:ea typeface="微软雅黑"/>
              </a:rPr>
              <a:t>边界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1272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2 门课，不宣称全学科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5112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不宣称提分，无对照实验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89534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fixture 截图已标注未上云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406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DF9"/>
                </a:solidFill>
                <a:latin typeface="微软雅黑"/>
                <a:ea typeface="微软雅黑"/>
              </a:rPr>
              <a:t>github.com/Richard-Lee0419/-EduPath  ·  branch: huawei-ict-2026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064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FC9C1"/>
                </a:solidFill>
                <a:latin typeface="微软雅黑"/>
                <a:ea typeface="微软雅黑"/>
              </a:rPr>
              <a:t>谢谢，欢迎提问。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6364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F7F8B"/>
                </a:solidFill>
                <a:latin typeface="微软雅黑"/>
                <a:ea typeface="微软雅黑"/>
              </a:rPr>
              <a:t>注：本页“已完成/待完成”为依据当前仓库状态的如实标注，不构成上线或效果承诺。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